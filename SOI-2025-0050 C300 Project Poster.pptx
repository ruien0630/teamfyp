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80" r:id="rId5"/>
  </p:sldIdLst>
  <p:sldSz cx="21386800" cy="30279975"/>
  <p:notesSz cx="6805613" cy="9944100"/>
  <p:defaultText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7">
          <p15:clr>
            <a:srgbClr val="A4A3A4"/>
          </p15:clr>
        </p15:guide>
        <p15:guide id="2" pos="67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ry Chan" initials="GC" lastIdx="2" clrIdx="0">
    <p:extLst>
      <p:ext uri="{19B8F6BF-5375-455C-9EA6-DF929625EA0E}">
        <p15:presenceInfo xmlns:p15="http://schemas.microsoft.com/office/powerpoint/2012/main" userId="Gary C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66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9BB058-FE4A-380F-61A4-D03767961E0F}" v="24" dt="2026-01-31T15:02:34.013"/>
    <p1510:client id="{542130D5-5BB2-72B0-9380-06AE5BDF3B0C}" v="387" dt="2026-02-01T07:21:02.908"/>
    <p1510:client id="{733769C4-8349-8FC9-420A-C3DFFC7AF63C}" v="19" dt="2026-02-02T03:52:20.6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1836" autoAdjust="0"/>
    <p:restoredTop sz="85943" autoAdjust="0"/>
  </p:normalViewPr>
  <p:slideViewPr>
    <p:cSldViewPr>
      <p:cViewPr varScale="1">
        <p:scale>
          <a:sx n="12" d="100"/>
          <a:sy n="12" d="100"/>
        </p:scale>
        <p:origin x="2728" y="80"/>
      </p:cViewPr>
      <p:guideLst>
        <p:guide orient="horz" pos="9537"/>
        <p:guide pos="6736"/>
      </p:guideLst>
    </p:cSldViewPr>
  </p:slideViewPr>
  <p:notesTextViewPr>
    <p:cViewPr>
      <p:scale>
        <a:sx n="1" d="1"/>
        <a:sy n="1" d="1"/>
      </p:scale>
      <p:origin x="0" y="0"/>
    </p:cViewPr>
  </p:notesTextViewPr>
  <p:sorterViewPr>
    <p:cViewPr>
      <p:scale>
        <a:sx n="100" d="100"/>
        <a:sy n="100" d="100"/>
      </p:scale>
      <p:origin x="0" y="10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720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4939" y="0"/>
            <a:ext cx="2949099" cy="497205"/>
          </a:xfrm>
          <a:prstGeom prst="rect">
            <a:avLst/>
          </a:prstGeom>
        </p:spPr>
        <p:txBody>
          <a:bodyPr vert="horz" lIns="91440" tIns="45720" rIns="91440" bIns="45720" rtlCol="0"/>
          <a:lstStyle>
            <a:lvl1pPr algn="r">
              <a:defRPr sz="1200"/>
            </a:lvl1pPr>
          </a:lstStyle>
          <a:p>
            <a:fld id="{7DC6AF4E-6B14-4F0E-97CD-1B44B475A93A}" type="datetimeFigureOut">
              <a:rPr lang="en-US" smtClean="0"/>
              <a:t>2/1/2026</a:t>
            </a:fld>
            <a:endParaRPr lang="en-US"/>
          </a:p>
        </p:txBody>
      </p:sp>
      <p:sp>
        <p:nvSpPr>
          <p:cNvPr id="4" name="Slide Image Placeholder 3"/>
          <p:cNvSpPr>
            <a:spLocks noGrp="1" noRot="1" noChangeAspect="1"/>
          </p:cNvSpPr>
          <p:nvPr>
            <p:ph type="sldImg" idx="2"/>
          </p:nvPr>
        </p:nvSpPr>
        <p:spPr>
          <a:xfrm>
            <a:off x="2085975" y="746125"/>
            <a:ext cx="2633663" cy="37290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562" y="4723448"/>
            <a:ext cx="5444490" cy="447484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5169"/>
            <a:ext cx="2949099" cy="49720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4939" y="9445169"/>
            <a:ext cx="2949099" cy="497205"/>
          </a:xfrm>
          <a:prstGeom prst="rect">
            <a:avLst/>
          </a:prstGeom>
        </p:spPr>
        <p:txBody>
          <a:bodyPr vert="horz" lIns="91440" tIns="45720" rIns="91440" bIns="45720" rtlCol="0" anchor="b"/>
          <a:lstStyle>
            <a:lvl1pPr algn="r">
              <a:defRPr sz="1200"/>
            </a:lvl1pPr>
          </a:lstStyle>
          <a:p>
            <a:fld id="{5FF00FCB-7C01-473D-807A-9CD0D5E31431}" type="slidenum">
              <a:rPr lang="en-US" smtClean="0"/>
              <a:t>‹#›</a:t>
            </a:fld>
            <a:endParaRPr lang="en-US"/>
          </a:p>
        </p:txBody>
      </p:sp>
    </p:spTree>
    <p:extLst>
      <p:ext uri="{BB962C8B-B14F-4D97-AF65-F5344CB8AC3E}">
        <p14:creationId xmlns:p14="http://schemas.microsoft.com/office/powerpoint/2010/main" val="3094928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yrp.sharepoint.com/sites/SOIWorkspace/Admin/STUACAD/SOI%20Module%20Resources/Project.aspx"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1" u="sng" dirty="0"/>
              <a:t>NOTES</a:t>
            </a:r>
          </a:p>
          <a:p>
            <a:pPr algn="just"/>
            <a:r>
              <a:rPr lang="en-US" b="0" u="none" dirty="0"/>
              <a:t>Refer</a:t>
            </a:r>
            <a:r>
              <a:rPr lang="en-US" b="0" u="none" baseline="0" dirty="0"/>
              <a:t> to write ups in ‘Past Projects for Reference’ Booklet for Project overview write ups - </a:t>
            </a:r>
            <a:r>
              <a:rPr lang="en-US" dirty="0">
                <a:hlinkClick r:id="rId3"/>
              </a:rPr>
              <a:t>Student Academic - Project (sharepoint.com)</a:t>
            </a:r>
            <a:endParaRPr lang="en-US" dirty="0"/>
          </a:p>
          <a:p>
            <a:pPr algn="just"/>
            <a:r>
              <a:rPr lang="en-US" dirty="0"/>
              <a:t>ENGLISH</a:t>
            </a:r>
            <a:r>
              <a:rPr lang="en-US" baseline="0" dirty="0"/>
              <a:t> – </a:t>
            </a:r>
            <a:r>
              <a:rPr lang="en-US" b="1" baseline="0" dirty="0"/>
              <a:t>British. E.g. </a:t>
            </a:r>
            <a:r>
              <a:rPr lang="en-US" b="1" baseline="0" dirty="0" err="1"/>
              <a:t>organi</a:t>
            </a:r>
            <a:r>
              <a:rPr lang="en-US" b="1" u="sng" baseline="0" dirty="0" err="1">
                <a:solidFill>
                  <a:srgbClr val="E16609"/>
                </a:solidFill>
              </a:rPr>
              <a:t>s</a:t>
            </a:r>
            <a:r>
              <a:rPr lang="en-US" b="1" u="none" baseline="0" dirty="0" err="1"/>
              <a:t>ation</a:t>
            </a:r>
            <a:r>
              <a:rPr lang="en-US" b="1" u="none" baseline="0" dirty="0"/>
              <a:t> VS organi</a:t>
            </a:r>
            <a:r>
              <a:rPr lang="en-US" b="1" u="sng" baseline="0" dirty="0">
                <a:solidFill>
                  <a:srgbClr val="E16609"/>
                </a:solidFill>
              </a:rPr>
              <a:t>z</a:t>
            </a:r>
            <a:r>
              <a:rPr lang="en-US" b="1" u="none" baseline="0" dirty="0"/>
              <a:t>ation</a:t>
            </a:r>
            <a:endParaRPr lang="en-US" b="1" baseline="0" dirty="0"/>
          </a:p>
          <a:p>
            <a:pPr algn="just"/>
            <a:r>
              <a:rPr lang="en-US" baseline="0" dirty="0"/>
              <a:t>Font: RP approved font - Arial family only.</a:t>
            </a:r>
          </a:p>
          <a:p>
            <a:pPr algn="just"/>
            <a:r>
              <a:rPr lang="en-US" baseline="0" dirty="0"/>
              <a:t>Header: Arial Bold</a:t>
            </a:r>
          </a:p>
          <a:p>
            <a:pPr algn="just"/>
            <a:r>
              <a:rPr lang="en-US" baseline="0" dirty="0"/>
              <a:t>Copy text: Arial regular or Arial Bold. Use Emphasis of SOI’s orange </a:t>
            </a:r>
            <a:r>
              <a:rPr lang="en-US" baseline="0" dirty="0" err="1"/>
              <a:t>colour</a:t>
            </a:r>
            <a:r>
              <a:rPr lang="en-US" baseline="0" dirty="0"/>
              <a:t> in moderation.</a:t>
            </a:r>
          </a:p>
          <a:p>
            <a:pPr algn="just"/>
            <a:endParaRPr lang="en-US" baseline="0" dirty="0"/>
          </a:p>
          <a:p>
            <a:pPr algn="just"/>
            <a:r>
              <a:rPr lang="en-US" baseline="0" dirty="0"/>
              <a:t>Picture frame – Give a 4.5 or 6pt orange outline.</a:t>
            </a:r>
            <a:endParaRPr lang="en-US" dirty="0"/>
          </a:p>
        </p:txBody>
      </p:sp>
      <p:sp>
        <p:nvSpPr>
          <p:cNvPr id="4" name="Slide Number Placeholder 3"/>
          <p:cNvSpPr>
            <a:spLocks noGrp="1"/>
          </p:cNvSpPr>
          <p:nvPr>
            <p:ph type="sldNum" sz="quarter" idx="10"/>
          </p:nvPr>
        </p:nvSpPr>
        <p:spPr/>
        <p:txBody>
          <a:bodyPr/>
          <a:lstStyle/>
          <a:p>
            <a:fld id="{5FF00FCB-7C01-473D-807A-9CD0D5E31431}" type="slidenum">
              <a:rPr lang="en-US" smtClean="0"/>
              <a:t>1</a:t>
            </a:fld>
            <a:endParaRPr lang="en-US"/>
          </a:p>
        </p:txBody>
      </p:sp>
    </p:spTree>
    <p:extLst>
      <p:ext uri="{BB962C8B-B14F-4D97-AF65-F5344CB8AC3E}">
        <p14:creationId xmlns:p14="http://schemas.microsoft.com/office/powerpoint/2010/main" val="420444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010" y="9406420"/>
            <a:ext cx="18178780" cy="6490569"/>
          </a:xfrm>
        </p:spPr>
        <p:txBody>
          <a:bodyPr/>
          <a:lstStyle/>
          <a:p>
            <a:r>
              <a:rPr lang="en-US"/>
              <a:t>Click to edit Master title style</a:t>
            </a:r>
            <a:endParaRPr lang="en-SG"/>
          </a:p>
        </p:txBody>
      </p:sp>
      <p:sp>
        <p:nvSpPr>
          <p:cNvPr id="3" name="Subtitle 2"/>
          <p:cNvSpPr>
            <a:spLocks noGrp="1"/>
          </p:cNvSpPr>
          <p:nvPr>
            <p:ph type="subTitle" idx="1"/>
          </p:nvPr>
        </p:nvSpPr>
        <p:spPr>
          <a:xfrm>
            <a:off x="3208020" y="17158652"/>
            <a:ext cx="14970760" cy="7738216"/>
          </a:xfrm>
        </p:spPr>
        <p:txBody>
          <a:bodyPr/>
          <a:lstStyle>
            <a:lvl1pPr marL="0" indent="0" algn="ctr">
              <a:buNone/>
              <a:defRPr>
                <a:solidFill>
                  <a:schemeClr val="tx1">
                    <a:tint val="75000"/>
                  </a:schemeClr>
                </a:solidFill>
              </a:defRPr>
            </a:lvl1pPr>
            <a:lvl2pPr marL="1476162" indent="0" algn="ctr">
              <a:buNone/>
              <a:defRPr>
                <a:solidFill>
                  <a:schemeClr val="tx1">
                    <a:tint val="75000"/>
                  </a:schemeClr>
                </a:solidFill>
              </a:defRPr>
            </a:lvl2pPr>
            <a:lvl3pPr marL="2952323" indent="0" algn="ctr">
              <a:buNone/>
              <a:defRPr>
                <a:solidFill>
                  <a:schemeClr val="tx1">
                    <a:tint val="75000"/>
                  </a:schemeClr>
                </a:solidFill>
              </a:defRPr>
            </a:lvl3pPr>
            <a:lvl4pPr marL="4428485" indent="0" algn="ctr">
              <a:buNone/>
              <a:defRPr>
                <a:solidFill>
                  <a:schemeClr val="tx1">
                    <a:tint val="75000"/>
                  </a:schemeClr>
                </a:solidFill>
              </a:defRPr>
            </a:lvl4pPr>
            <a:lvl5pPr marL="5904647" indent="0" algn="ctr">
              <a:buNone/>
              <a:defRPr>
                <a:solidFill>
                  <a:schemeClr val="tx1">
                    <a:tint val="75000"/>
                  </a:schemeClr>
                </a:solidFill>
              </a:defRPr>
            </a:lvl5pPr>
            <a:lvl6pPr marL="7380808" indent="0" algn="ctr">
              <a:buNone/>
              <a:defRPr>
                <a:solidFill>
                  <a:schemeClr val="tx1">
                    <a:tint val="75000"/>
                  </a:schemeClr>
                </a:solidFill>
              </a:defRPr>
            </a:lvl6pPr>
            <a:lvl7pPr marL="8856970" indent="0" algn="ctr">
              <a:buNone/>
              <a:defRPr>
                <a:solidFill>
                  <a:schemeClr val="tx1">
                    <a:tint val="75000"/>
                  </a:schemeClr>
                </a:solidFill>
              </a:defRPr>
            </a:lvl7pPr>
            <a:lvl8pPr marL="10333131" indent="0" algn="ctr">
              <a:buNone/>
              <a:defRPr>
                <a:solidFill>
                  <a:schemeClr val="tx1">
                    <a:tint val="75000"/>
                  </a:schemeClr>
                </a:solidFill>
              </a:defRPr>
            </a:lvl8pPr>
            <a:lvl9pPr marL="11809293" indent="0" algn="ctr">
              <a:buNone/>
              <a:defRPr>
                <a:solidFill>
                  <a:schemeClr val="tx1">
                    <a:tint val="75000"/>
                  </a:schemeClr>
                </a:solidFill>
              </a:defRPr>
            </a:lvl9pPr>
          </a:lstStyle>
          <a:p>
            <a:r>
              <a:rPr lang="en-US"/>
              <a:t>Click to edit Master subtitle style</a:t>
            </a:r>
            <a:endParaRPr lang="en-SG"/>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1454567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3DB7E8A-AC5D-5620-5B92-4A4AAFD2E04B}"/>
              </a:ext>
            </a:extLst>
          </p:cNvPr>
          <p:cNvGrpSpPr/>
          <p:nvPr userDrawn="1"/>
        </p:nvGrpSpPr>
        <p:grpSpPr>
          <a:xfrm>
            <a:off x="26281" y="14013"/>
            <a:ext cx="21360519" cy="30289216"/>
            <a:chOff x="26281" y="14013"/>
            <a:chExt cx="21360519" cy="30289216"/>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281" y="14013"/>
              <a:ext cx="21360519" cy="30289216"/>
            </a:xfrm>
            <a:prstGeom prst="rect">
              <a:avLst/>
            </a:prstGeom>
          </p:spPr>
        </p:pic>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grpSp>
      <p:sp>
        <p:nvSpPr>
          <p:cNvPr id="2" name="Title 1"/>
          <p:cNvSpPr>
            <a:spLocks noGrp="1"/>
          </p:cNvSpPr>
          <p:nvPr userDrawn="1">
            <p:ph type="title"/>
          </p:nvPr>
        </p:nvSpPr>
        <p:spPr/>
        <p:txBody>
          <a:bodyPr/>
          <a:lstStyle/>
          <a:p>
            <a:r>
              <a:rPr lang="en-US"/>
              <a:t>Click to edit Master title style</a:t>
            </a:r>
            <a:endParaRPr lang="en-SG"/>
          </a:p>
        </p:txBody>
      </p:sp>
      <p:sp>
        <p:nvSpPr>
          <p:cNvPr id="3" name="Content Placeholder 2"/>
          <p:cNvSpPr>
            <a:spLocks noGrp="1"/>
          </p:cNvSpPr>
          <p:nvPr userDrawn="1">
            <p:ph idx="1"/>
          </p:nvPr>
        </p:nvSpPr>
        <p:spPr>
          <a:xfrm>
            <a:off x="1069340" y="7065330"/>
            <a:ext cx="19248120" cy="20591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userDrawn="1">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userDrawn="1">
            <p:ph type="ftr" sz="quarter" idx="11"/>
          </p:nvPr>
        </p:nvSpPr>
        <p:spPr>
          <a:xfrm>
            <a:off x="7307157" y="28065053"/>
            <a:ext cx="6772487" cy="1612128"/>
          </a:xfrm>
          <a:prstGeom prst="rect">
            <a:avLst/>
          </a:prstGeom>
        </p:spPr>
        <p:txBody>
          <a:bodyPr/>
          <a:lstStyle/>
          <a:p>
            <a:endParaRPr lang="en-SG" dirty="0"/>
          </a:p>
        </p:txBody>
      </p:sp>
      <p:sp>
        <p:nvSpPr>
          <p:cNvPr id="6" name="Slide Number Placeholder 5"/>
          <p:cNvSpPr>
            <a:spLocks noGrp="1"/>
          </p:cNvSpPr>
          <p:nvPr userDrawn="1">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2993" y="886947"/>
            <a:ext cx="2401625" cy="2401625"/>
          </a:xfrm>
          <a:prstGeom prst="rect">
            <a:avLst/>
          </a:prstGeom>
        </p:spPr>
      </p:pic>
      <p:sp>
        <p:nvSpPr>
          <p:cNvPr id="13" name="Rectangle 12">
            <a:extLst>
              <a:ext uri="{FF2B5EF4-FFF2-40B4-BE49-F238E27FC236}">
                <a16:creationId xmlns:a16="http://schemas.microsoft.com/office/drawing/2014/main" id="{891B8CE9-C656-A280-0CF8-F3E0C91AA1AE}"/>
              </a:ext>
            </a:extLst>
          </p:cNvPr>
          <p:cNvSpPr/>
          <p:nvPr userDrawn="1"/>
        </p:nvSpPr>
        <p:spPr>
          <a:xfrm>
            <a:off x="15148115" y="27525363"/>
            <a:ext cx="5688632" cy="2369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41C43F50-8C37-F47A-C1E6-8C65BB8BB963}"/>
              </a:ext>
            </a:extLst>
          </p:cNvPr>
          <p:cNvSpPr/>
          <p:nvPr userDrawn="1"/>
        </p:nvSpPr>
        <p:spPr>
          <a:xfrm>
            <a:off x="307849" y="394279"/>
            <a:ext cx="10657184" cy="30243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26" name="Picture 2" descr="A green object in the dark&#10;&#10;Description automatically generated">
            <a:extLst>
              <a:ext uri="{FF2B5EF4-FFF2-40B4-BE49-F238E27FC236}">
                <a16:creationId xmlns:a16="http://schemas.microsoft.com/office/drawing/2014/main" id="{83FF1E9E-34C7-0CBA-A214-4297A9F8F2F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77740" y="864408"/>
            <a:ext cx="11209309" cy="1878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942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9410" y="19457690"/>
            <a:ext cx="18178780" cy="6013939"/>
          </a:xfrm>
        </p:spPr>
        <p:txBody>
          <a:bodyPr anchor="t"/>
          <a:lstStyle>
            <a:lvl1pPr algn="l">
              <a:defRPr sz="12900" b="1" cap="all"/>
            </a:lvl1pPr>
          </a:lstStyle>
          <a:p>
            <a:r>
              <a:rPr lang="en-US"/>
              <a:t>Click to edit Master title style</a:t>
            </a:r>
            <a:endParaRPr lang="en-SG"/>
          </a:p>
        </p:txBody>
      </p:sp>
      <p:sp>
        <p:nvSpPr>
          <p:cNvPr id="3" name="Text Placeholder 2"/>
          <p:cNvSpPr>
            <a:spLocks noGrp="1"/>
          </p:cNvSpPr>
          <p:nvPr>
            <p:ph type="body" idx="1"/>
          </p:nvPr>
        </p:nvSpPr>
        <p:spPr>
          <a:xfrm>
            <a:off x="1689410" y="12833948"/>
            <a:ext cx="18178780" cy="6623742"/>
          </a:xfrm>
        </p:spPr>
        <p:txBody>
          <a:bodyPr anchor="b"/>
          <a:lstStyle>
            <a:lvl1pPr marL="0" indent="0">
              <a:buNone/>
              <a:defRPr sz="6500">
                <a:solidFill>
                  <a:schemeClr val="tx1">
                    <a:tint val="75000"/>
                  </a:schemeClr>
                </a:solidFill>
              </a:defRPr>
            </a:lvl1pPr>
            <a:lvl2pPr marL="1476162" indent="0">
              <a:buNone/>
              <a:defRPr sz="5800">
                <a:solidFill>
                  <a:schemeClr val="tx1">
                    <a:tint val="75000"/>
                  </a:schemeClr>
                </a:solidFill>
              </a:defRPr>
            </a:lvl2pPr>
            <a:lvl3pPr marL="2952323" indent="0">
              <a:buNone/>
              <a:defRPr sz="5200">
                <a:solidFill>
                  <a:schemeClr val="tx1">
                    <a:tint val="75000"/>
                  </a:schemeClr>
                </a:solidFill>
              </a:defRPr>
            </a:lvl3pPr>
            <a:lvl4pPr marL="4428485" indent="0">
              <a:buNone/>
              <a:defRPr sz="4500">
                <a:solidFill>
                  <a:schemeClr val="tx1">
                    <a:tint val="75000"/>
                  </a:schemeClr>
                </a:solidFill>
              </a:defRPr>
            </a:lvl4pPr>
            <a:lvl5pPr marL="5904647" indent="0">
              <a:buNone/>
              <a:defRPr sz="4500">
                <a:solidFill>
                  <a:schemeClr val="tx1">
                    <a:tint val="75000"/>
                  </a:schemeClr>
                </a:solidFill>
              </a:defRPr>
            </a:lvl5pPr>
            <a:lvl6pPr marL="7380808" indent="0">
              <a:buNone/>
              <a:defRPr sz="4500">
                <a:solidFill>
                  <a:schemeClr val="tx1">
                    <a:tint val="75000"/>
                  </a:schemeClr>
                </a:solidFill>
              </a:defRPr>
            </a:lvl6pPr>
            <a:lvl7pPr marL="8856970" indent="0">
              <a:buNone/>
              <a:defRPr sz="4500">
                <a:solidFill>
                  <a:schemeClr val="tx1">
                    <a:tint val="75000"/>
                  </a:schemeClr>
                </a:solidFill>
              </a:defRPr>
            </a:lvl7pPr>
            <a:lvl8pPr marL="10333131" indent="0">
              <a:buNone/>
              <a:defRPr sz="4500">
                <a:solidFill>
                  <a:schemeClr val="tx1">
                    <a:tint val="75000"/>
                  </a:schemeClr>
                </a:solidFill>
              </a:defRPr>
            </a:lvl8pPr>
            <a:lvl9pPr marL="11809293" indent="0">
              <a:buNone/>
              <a:defRPr sz="4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777451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1069340" y="7065330"/>
            <a:ext cx="9445837" cy="19983384"/>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10871623" y="7065330"/>
            <a:ext cx="9445837" cy="19983384"/>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6" name="Footer Placeholder 5"/>
          <p:cNvSpPr>
            <a:spLocks noGrp="1"/>
          </p:cNvSpPr>
          <p:nvPr>
            <p:ph type="ftr" sz="quarter" idx="11"/>
          </p:nvPr>
        </p:nvSpPr>
        <p:spPr>
          <a:xfrm>
            <a:off x="7307157" y="28065053"/>
            <a:ext cx="6772487" cy="1612128"/>
          </a:xfrm>
          <a:prstGeom prst="rect">
            <a:avLst/>
          </a:prstGeom>
        </p:spPr>
        <p:txBody>
          <a:bodyPr/>
          <a:lstStyle/>
          <a:p>
            <a:endParaRPr lang="en-SG"/>
          </a:p>
        </p:txBody>
      </p:sp>
      <p:sp>
        <p:nvSpPr>
          <p:cNvPr id="7" name="Slide Number Placeholder 6"/>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2462806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1069340" y="6777950"/>
            <a:ext cx="9449551"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4" name="Content Placeholder 3"/>
          <p:cNvSpPr>
            <a:spLocks noGrp="1"/>
          </p:cNvSpPr>
          <p:nvPr>
            <p:ph sz="half" idx="2"/>
          </p:nvPr>
        </p:nvSpPr>
        <p:spPr>
          <a:xfrm>
            <a:off x="1069340" y="9602677"/>
            <a:ext cx="9449551"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10864198" y="6777950"/>
            <a:ext cx="9453263"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6" name="Content Placeholder 5"/>
          <p:cNvSpPr>
            <a:spLocks noGrp="1"/>
          </p:cNvSpPr>
          <p:nvPr>
            <p:ph sz="quarter" idx="4"/>
          </p:nvPr>
        </p:nvSpPr>
        <p:spPr>
          <a:xfrm>
            <a:off x="10864198" y="9602677"/>
            <a:ext cx="9453263"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8" name="Footer Placeholder 7"/>
          <p:cNvSpPr>
            <a:spLocks noGrp="1"/>
          </p:cNvSpPr>
          <p:nvPr>
            <p:ph type="ftr" sz="quarter" idx="11"/>
          </p:nvPr>
        </p:nvSpPr>
        <p:spPr>
          <a:xfrm>
            <a:off x="7307157" y="28065053"/>
            <a:ext cx="6772487" cy="1612128"/>
          </a:xfrm>
          <a:prstGeom prst="rect">
            <a:avLst/>
          </a:prstGeom>
        </p:spPr>
        <p:txBody>
          <a:bodyPr/>
          <a:lstStyle/>
          <a:p>
            <a:endParaRPr lang="en-SG"/>
          </a:p>
        </p:txBody>
      </p:sp>
      <p:sp>
        <p:nvSpPr>
          <p:cNvPr id="9" name="Slide Number Placeholder 8"/>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3650723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4" name="Footer Placeholder 3"/>
          <p:cNvSpPr>
            <a:spLocks noGrp="1"/>
          </p:cNvSpPr>
          <p:nvPr>
            <p:ph type="ftr" sz="quarter" idx="11"/>
          </p:nvPr>
        </p:nvSpPr>
        <p:spPr>
          <a:xfrm>
            <a:off x="7307157" y="28065053"/>
            <a:ext cx="6772487" cy="1612128"/>
          </a:xfrm>
          <a:prstGeom prst="rect">
            <a:avLst/>
          </a:prstGeom>
        </p:spPr>
        <p:txBody>
          <a:bodyPr/>
          <a:lstStyle/>
          <a:p>
            <a:endParaRPr lang="en-SG"/>
          </a:p>
        </p:txBody>
      </p:sp>
      <p:sp>
        <p:nvSpPr>
          <p:cNvPr id="5" name="Slide Number Placeholder 4"/>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669892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3" name="Footer Placeholder 2"/>
          <p:cNvSpPr>
            <a:spLocks noGrp="1"/>
          </p:cNvSpPr>
          <p:nvPr>
            <p:ph type="ftr" sz="quarter" idx="11"/>
          </p:nvPr>
        </p:nvSpPr>
        <p:spPr>
          <a:xfrm>
            <a:off x="7307157" y="28065053"/>
            <a:ext cx="6772487" cy="1612128"/>
          </a:xfrm>
          <a:prstGeom prst="rect">
            <a:avLst/>
          </a:prstGeom>
        </p:spPr>
        <p:txBody>
          <a:bodyPr/>
          <a:lstStyle/>
          <a:p>
            <a:endParaRPr lang="en-SG"/>
          </a:p>
        </p:txBody>
      </p:sp>
      <p:sp>
        <p:nvSpPr>
          <p:cNvPr id="4" name="Slide Number Placeholder 3"/>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309775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Title 1"/>
          <p:cNvSpPr>
            <a:spLocks noGrp="1"/>
          </p:cNvSpPr>
          <p:nvPr>
            <p:ph type="title"/>
          </p:nvPr>
        </p:nvSpPr>
        <p:spPr>
          <a:xfrm>
            <a:off x="1069341" y="1205591"/>
            <a:ext cx="7036110" cy="5130774"/>
          </a:xfrm>
        </p:spPr>
        <p:txBody>
          <a:bodyPr anchor="b"/>
          <a:lstStyle>
            <a:lvl1pPr algn="l">
              <a:defRPr sz="6500" b="1"/>
            </a:lvl1pPr>
          </a:lstStyle>
          <a:p>
            <a:r>
              <a:rPr lang="en-US"/>
              <a:t>Click to edit Master title style</a:t>
            </a:r>
            <a:endParaRPr lang="en-SG"/>
          </a:p>
        </p:txBody>
      </p:sp>
      <p:sp>
        <p:nvSpPr>
          <p:cNvPr id="3" name="Content Placeholder 2"/>
          <p:cNvSpPr>
            <a:spLocks noGrp="1"/>
          </p:cNvSpPr>
          <p:nvPr>
            <p:ph idx="1"/>
          </p:nvPr>
        </p:nvSpPr>
        <p:spPr>
          <a:xfrm>
            <a:off x="8361645" y="1205594"/>
            <a:ext cx="11955815" cy="25843120"/>
          </a:xfrm>
        </p:spPr>
        <p:txBody>
          <a:bodyPr/>
          <a:lstStyle>
            <a:lvl1pPr>
              <a:defRPr sz="10300"/>
            </a:lvl1pPr>
            <a:lvl2pPr>
              <a:defRPr sz="9000"/>
            </a:lvl2pPr>
            <a:lvl3pPr>
              <a:defRPr sz="7700"/>
            </a:lvl3pPr>
            <a:lvl4pPr>
              <a:defRPr sz="6500"/>
            </a:lvl4pPr>
            <a:lvl5pPr>
              <a:defRPr sz="6500"/>
            </a:lvl5pPr>
            <a:lvl6pPr>
              <a:defRPr sz="6500"/>
            </a:lvl6pPr>
            <a:lvl7pPr>
              <a:defRPr sz="6500"/>
            </a:lvl7pPr>
            <a:lvl8pPr>
              <a:defRPr sz="6500"/>
            </a:lvl8pPr>
            <a:lvl9pPr>
              <a:defRPr sz="6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1069341" y="6336367"/>
            <a:ext cx="7036110" cy="20712346"/>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6" name="Footer Placeholder 5"/>
          <p:cNvSpPr>
            <a:spLocks noGrp="1"/>
          </p:cNvSpPr>
          <p:nvPr>
            <p:ph type="ftr" sz="quarter" idx="11"/>
          </p:nvPr>
        </p:nvSpPr>
        <p:spPr>
          <a:xfrm>
            <a:off x="7307157" y="28065053"/>
            <a:ext cx="6772487" cy="1612128"/>
          </a:xfrm>
          <a:prstGeom prst="rect">
            <a:avLst/>
          </a:prstGeom>
        </p:spPr>
        <p:txBody>
          <a:bodyPr/>
          <a:lstStyle/>
          <a:p>
            <a:endParaRPr lang="en-SG"/>
          </a:p>
        </p:txBody>
      </p:sp>
      <p:sp>
        <p:nvSpPr>
          <p:cNvPr id="7" name="Slide Number Placeholder 6"/>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1623008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Title 1"/>
          <p:cNvSpPr>
            <a:spLocks noGrp="1"/>
          </p:cNvSpPr>
          <p:nvPr>
            <p:ph type="title"/>
          </p:nvPr>
        </p:nvSpPr>
        <p:spPr>
          <a:xfrm>
            <a:off x="4191962" y="21195982"/>
            <a:ext cx="12832080" cy="2502306"/>
          </a:xfrm>
        </p:spPr>
        <p:txBody>
          <a:bodyPr anchor="b"/>
          <a:lstStyle>
            <a:lvl1pPr algn="l">
              <a:defRPr sz="6500" b="1"/>
            </a:lvl1pPr>
          </a:lstStyle>
          <a:p>
            <a:r>
              <a:rPr lang="en-US"/>
              <a:t>Click to edit Master title style</a:t>
            </a:r>
            <a:endParaRPr lang="en-SG"/>
          </a:p>
        </p:txBody>
      </p:sp>
      <p:sp>
        <p:nvSpPr>
          <p:cNvPr id="3" name="Picture Placeholder 2"/>
          <p:cNvSpPr>
            <a:spLocks noGrp="1"/>
          </p:cNvSpPr>
          <p:nvPr>
            <p:ph type="pic" idx="1"/>
          </p:nvPr>
        </p:nvSpPr>
        <p:spPr>
          <a:xfrm>
            <a:off x="4191962" y="2705572"/>
            <a:ext cx="12832080" cy="18167985"/>
          </a:xfrm>
        </p:spPr>
        <p:txBody>
          <a:bodyPr/>
          <a:lstStyle>
            <a:lvl1pPr marL="0" indent="0">
              <a:buNone/>
              <a:defRPr sz="10300"/>
            </a:lvl1pPr>
            <a:lvl2pPr marL="1476162" indent="0">
              <a:buNone/>
              <a:defRPr sz="9000"/>
            </a:lvl2pPr>
            <a:lvl3pPr marL="2952323" indent="0">
              <a:buNone/>
              <a:defRPr sz="7700"/>
            </a:lvl3pPr>
            <a:lvl4pPr marL="4428485" indent="0">
              <a:buNone/>
              <a:defRPr sz="6500"/>
            </a:lvl4pPr>
            <a:lvl5pPr marL="5904647" indent="0">
              <a:buNone/>
              <a:defRPr sz="6500"/>
            </a:lvl5pPr>
            <a:lvl6pPr marL="7380808" indent="0">
              <a:buNone/>
              <a:defRPr sz="6500"/>
            </a:lvl6pPr>
            <a:lvl7pPr marL="8856970" indent="0">
              <a:buNone/>
              <a:defRPr sz="6500"/>
            </a:lvl7pPr>
            <a:lvl8pPr marL="10333131" indent="0">
              <a:buNone/>
              <a:defRPr sz="6500"/>
            </a:lvl8pPr>
            <a:lvl9pPr marL="11809293" indent="0">
              <a:buNone/>
              <a:defRPr sz="6500"/>
            </a:lvl9pPr>
          </a:lstStyle>
          <a:p>
            <a:endParaRPr lang="en-SG"/>
          </a:p>
        </p:txBody>
      </p:sp>
      <p:sp>
        <p:nvSpPr>
          <p:cNvPr id="4" name="Text Placeholder 3"/>
          <p:cNvSpPr>
            <a:spLocks noGrp="1"/>
          </p:cNvSpPr>
          <p:nvPr>
            <p:ph type="body" sz="half" idx="2"/>
          </p:nvPr>
        </p:nvSpPr>
        <p:spPr>
          <a:xfrm>
            <a:off x="4191962" y="23698288"/>
            <a:ext cx="12832080" cy="3553689"/>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6" name="Footer Placeholder 5"/>
          <p:cNvSpPr>
            <a:spLocks noGrp="1"/>
          </p:cNvSpPr>
          <p:nvPr>
            <p:ph type="ftr" sz="quarter" idx="11"/>
          </p:nvPr>
        </p:nvSpPr>
        <p:spPr>
          <a:xfrm>
            <a:off x="7307157" y="28065053"/>
            <a:ext cx="6772487" cy="1612128"/>
          </a:xfrm>
          <a:prstGeom prst="rect">
            <a:avLst/>
          </a:prstGeom>
        </p:spPr>
        <p:txBody>
          <a:bodyPr/>
          <a:lstStyle/>
          <a:p>
            <a:endParaRPr lang="en-SG"/>
          </a:p>
        </p:txBody>
      </p:sp>
      <p:sp>
        <p:nvSpPr>
          <p:cNvPr id="7" name="Slide Number Placeholder 6"/>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13495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4155106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Vertical Title 1"/>
          <p:cNvSpPr>
            <a:spLocks noGrp="1"/>
          </p:cNvSpPr>
          <p:nvPr>
            <p:ph type="title" orient="vert"/>
          </p:nvPr>
        </p:nvSpPr>
        <p:spPr>
          <a:xfrm>
            <a:off x="15505430" y="1212605"/>
            <a:ext cx="4812030" cy="2583610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1069340" y="1212605"/>
            <a:ext cx="14079643" cy="2583610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3579770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6281" y="14013"/>
            <a:ext cx="21360519" cy="30289216"/>
          </a:xfrm>
          <a:prstGeom prst="rect">
            <a:avLst/>
          </a:prstGeom>
        </p:spPr>
      </p:pic>
      <p:sp>
        <p:nvSpPr>
          <p:cNvPr id="2" name="Title Placeholder 1"/>
          <p:cNvSpPr>
            <a:spLocks noGrp="1"/>
          </p:cNvSpPr>
          <p:nvPr>
            <p:ph type="title"/>
          </p:nvPr>
        </p:nvSpPr>
        <p:spPr>
          <a:xfrm>
            <a:off x="1069340" y="3690715"/>
            <a:ext cx="18337028" cy="3024336"/>
          </a:xfrm>
          <a:prstGeom prst="rect">
            <a:avLst/>
          </a:prstGeom>
        </p:spPr>
        <p:txBody>
          <a:bodyPr vert="horz" lIns="295232" tIns="147616" rIns="295232" bIns="147616" rtlCol="0" anchor="ctr">
            <a:noAutofit/>
          </a:bodyPr>
          <a:lstStyle/>
          <a:p>
            <a:r>
              <a:rPr lang="en-US" dirty="0"/>
              <a:t>Click to edit Master title style</a:t>
            </a:r>
            <a:endParaRPr lang="en-SG" dirty="0"/>
          </a:p>
        </p:txBody>
      </p:sp>
      <p:sp>
        <p:nvSpPr>
          <p:cNvPr id="3" name="Text Placeholder 2"/>
          <p:cNvSpPr>
            <a:spLocks noGrp="1"/>
          </p:cNvSpPr>
          <p:nvPr>
            <p:ph type="body" idx="1"/>
          </p:nvPr>
        </p:nvSpPr>
        <p:spPr>
          <a:xfrm>
            <a:off x="1069340" y="7065330"/>
            <a:ext cx="19248120" cy="19983384"/>
          </a:xfrm>
          <a:prstGeom prst="rect">
            <a:avLst/>
          </a:prstGeom>
        </p:spPr>
        <p:txBody>
          <a:bodyPr vert="horz" lIns="295232" tIns="147616" rIns="295232" bIns="14761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MSIPCMContentMarking" descr="{&quot;HashCode&quot;:-574504238,&quot;Placement&quot;:&quot;Header&quot;,&quot;Top&quot;:0.0,&quot;Left&quot;:755.3759,&quot;SlideWidth&quot;:1684,&quot;SlideHeight&quot;:2384}">
            <a:extLst>
              <a:ext uri="{FF2B5EF4-FFF2-40B4-BE49-F238E27FC236}">
                <a16:creationId xmlns:a16="http://schemas.microsoft.com/office/drawing/2014/main" id="{7B36F015-1EF1-4CA3-90DE-714DA812487C}"/>
              </a:ext>
            </a:extLst>
          </p:cNvPr>
          <p:cNvSpPr txBox="1"/>
          <p:nvPr userDrawn="1"/>
        </p:nvSpPr>
        <p:spPr>
          <a:xfrm>
            <a:off x="9593274" y="0"/>
            <a:ext cx="2200252" cy="262344"/>
          </a:xfrm>
          <a:prstGeom prst="rect">
            <a:avLst/>
          </a:prstGeom>
          <a:noFill/>
        </p:spPr>
        <p:txBody>
          <a:bodyPr vert="horz" wrap="square" lIns="0" tIns="0" rIns="0" bIns="0" rtlCol="0" anchor="ctr" anchorCtr="1">
            <a:spAutoFit/>
          </a:bodyPr>
          <a:lstStyle/>
          <a:p>
            <a:pPr algn="ctr">
              <a:spcBef>
                <a:spcPts val="0"/>
              </a:spcBef>
              <a:spcAft>
                <a:spcPts val="0"/>
              </a:spcAft>
            </a:pPr>
            <a:r>
              <a:rPr lang="en-US" sz="1000">
                <a:solidFill>
                  <a:srgbClr val="000000"/>
                </a:solidFill>
                <a:latin typeface="Calibri" panose="020F0502020204030204" pitchFamily="34" charset="0"/>
              </a:rPr>
              <a:t>OFFICIAL (CLOSED) \ NON-SENSITIVE</a:t>
            </a:r>
          </a:p>
        </p:txBody>
      </p:sp>
      <p:grpSp>
        <p:nvGrpSpPr>
          <p:cNvPr id="10" name="Group 9">
            <a:extLst>
              <a:ext uri="{FF2B5EF4-FFF2-40B4-BE49-F238E27FC236}">
                <a16:creationId xmlns:a16="http://schemas.microsoft.com/office/drawing/2014/main" id="{A24E0545-2C1D-BC1D-0E89-0E6853ED8544}"/>
              </a:ext>
            </a:extLst>
          </p:cNvPr>
          <p:cNvGrpSpPr/>
          <p:nvPr userDrawn="1"/>
        </p:nvGrpSpPr>
        <p:grpSpPr>
          <a:xfrm>
            <a:off x="14725848" y="27525363"/>
            <a:ext cx="6110899" cy="2369395"/>
            <a:chOff x="15095669" y="27647780"/>
            <a:chExt cx="6110899" cy="2369395"/>
          </a:xfrm>
        </p:grpSpPr>
        <p:sp>
          <p:nvSpPr>
            <p:cNvPr id="11" name="Rectangle 10">
              <a:extLst>
                <a:ext uri="{FF2B5EF4-FFF2-40B4-BE49-F238E27FC236}">
                  <a16:creationId xmlns:a16="http://schemas.microsoft.com/office/drawing/2014/main" id="{CDD23817-818E-4FFD-C089-62A4E15D2C58}"/>
                </a:ext>
              </a:extLst>
            </p:cNvPr>
            <p:cNvSpPr/>
            <p:nvPr userDrawn="1"/>
          </p:nvSpPr>
          <p:spPr>
            <a:xfrm>
              <a:off x="15517936" y="27647780"/>
              <a:ext cx="5688632" cy="2369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2" name="Picture 11" descr="A black background with a black square&#10;&#10;Description automatically generated with medium confidence">
              <a:extLst>
                <a:ext uri="{FF2B5EF4-FFF2-40B4-BE49-F238E27FC236}">
                  <a16:creationId xmlns:a16="http://schemas.microsoft.com/office/drawing/2014/main" id="{24A2748B-482F-5BE3-E500-B68CDDB0988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5095669" y="27860692"/>
              <a:ext cx="5534835" cy="1630558"/>
            </a:xfrm>
            <a:prstGeom prst="rect">
              <a:avLst/>
            </a:prstGeom>
          </p:spPr>
        </p:pic>
      </p:grpSp>
    </p:spTree>
    <p:extLst>
      <p:ext uri="{BB962C8B-B14F-4D97-AF65-F5344CB8AC3E}">
        <p14:creationId xmlns:p14="http://schemas.microsoft.com/office/powerpoint/2010/main" val="2054609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952323" rtl="0" eaLnBrk="1" latinLnBrk="0" hangingPunct="1">
        <a:spcBef>
          <a:spcPct val="0"/>
        </a:spcBef>
        <a:buNone/>
        <a:defRPr sz="9800" b="1" kern="1200">
          <a:solidFill>
            <a:schemeClr val="tx1"/>
          </a:solidFill>
          <a:latin typeface="Arial" pitchFamily="34" charset="0"/>
          <a:ea typeface="+mj-ea"/>
          <a:cs typeface="Arial" pitchFamily="34" charset="0"/>
        </a:defRPr>
      </a:lvl1pPr>
    </p:titleStyle>
    <p:bodyStyle>
      <a:lvl1pPr marL="1107121" indent="-1107121" algn="l" defTabSz="2952323" rtl="0" eaLnBrk="1" latinLnBrk="0" hangingPunct="1">
        <a:spcBef>
          <a:spcPct val="20000"/>
        </a:spcBef>
        <a:buFont typeface="Arial" pitchFamily="34" charset="0"/>
        <a:buChar char="•"/>
        <a:defRPr sz="8800" kern="1200">
          <a:solidFill>
            <a:schemeClr val="tx1"/>
          </a:solidFill>
          <a:latin typeface="Arial" pitchFamily="34" charset="0"/>
          <a:ea typeface="+mn-ea"/>
          <a:cs typeface="Arial" pitchFamily="34" charset="0"/>
        </a:defRPr>
      </a:lvl1pPr>
      <a:lvl2pPr marL="2398763" indent="-922601" algn="l" defTabSz="2952323" rtl="0" eaLnBrk="1" latinLnBrk="0" hangingPunct="1">
        <a:spcBef>
          <a:spcPct val="20000"/>
        </a:spcBef>
        <a:buFont typeface="Arial" pitchFamily="34" charset="0"/>
        <a:buChar char="–"/>
        <a:defRPr sz="8000" kern="1200">
          <a:solidFill>
            <a:schemeClr val="tx1"/>
          </a:solidFill>
          <a:latin typeface="Arial" pitchFamily="34" charset="0"/>
          <a:ea typeface="+mn-ea"/>
          <a:cs typeface="Arial" pitchFamily="34" charset="0"/>
        </a:defRPr>
      </a:lvl2pPr>
      <a:lvl3pPr marL="3690404" indent="-738081" algn="l" defTabSz="2952323" rtl="0" eaLnBrk="1" latinLnBrk="0" hangingPunct="1">
        <a:spcBef>
          <a:spcPct val="20000"/>
        </a:spcBef>
        <a:buFont typeface="Arial" pitchFamily="34" charset="0"/>
        <a:buChar char="•"/>
        <a:defRPr sz="6600" kern="1200">
          <a:solidFill>
            <a:schemeClr val="tx1"/>
          </a:solidFill>
          <a:latin typeface="Arial" pitchFamily="34" charset="0"/>
          <a:ea typeface="+mn-ea"/>
          <a:cs typeface="Arial" pitchFamily="34" charset="0"/>
        </a:defRPr>
      </a:lvl3pPr>
      <a:lvl4pPr marL="5166566" indent="-738081" algn="l" defTabSz="2952323" rtl="0" eaLnBrk="1" latinLnBrk="0" hangingPunct="1">
        <a:spcBef>
          <a:spcPct val="20000"/>
        </a:spcBef>
        <a:buFont typeface="Arial" pitchFamily="34" charset="0"/>
        <a:buChar char="–"/>
        <a:defRPr sz="5400" kern="1200">
          <a:solidFill>
            <a:schemeClr val="tx1"/>
          </a:solidFill>
          <a:latin typeface="Arial" pitchFamily="34" charset="0"/>
          <a:ea typeface="+mn-ea"/>
          <a:cs typeface="Arial" pitchFamily="34" charset="0"/>
        </a:defRPr>
      </a:lvl4pPr>
      <a:lvl5pPr marL="6642727" indent="-738081" algn="l" defTabSz="2952323" rtl="0" eaLnBrk="1" latinLnBrk="0" hangingPunct="1">
        <a:spcBef>
          <a:spcPct val="20000"/>
        </a:spcBef>
        <a:buFont typeface="Arial" pitchFamily="34" charset="0"/>
        <a:buChar char="»"/>
        <a:defRPr sz="5400" kern="1200">
          <a:solidFill>
            <a:schemeClr val="tx1"/>
          </a:solidFill>
          <a:latin typeface="Arial" pitchFamily="34" charset="0"/>
          <a:ea typeface="+mn-ea"/>
          <a:cs typeface="Arial" pitchFamily="34" charset="0"/>
        </a:defRPr>
      </a:lvl5pPr>
      <a:lvl6pPr marL="8118889"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6pPr>
      <a:lvl7pPr marL="9595051"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7pPr>
      <a:lvl8pPr marL="11071212"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8pPr>
      <a:lvl9pPr marL="12547374"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9pPr>
    </p:bodyStyle>
    <p:other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340" y="3402683"/>
            <a:ext cx="19993212" cy="3024336"/>
          </a:xfrm>
        </p:spPr>
        <p:txBody>
          <a:bodyPr/>
          <a:lstStyle/>
          <a:p>
            <a:pPr algn="l">
              <a:lnSpc>
                <a:spcPts val="8000"/>
              </a:lnSpc>
            </a:pPr>
            <a:r>
              <a:rPr lang="en-SG" sz="8000" dirty="0">
                <a:latin typeface="Arial"/>
                <a:ea typeface="Tahoma"/>
                <a:cs typeface="Arial"/>
              </a:rPr>
              <a:t>Intelligent Document Retrieval &amp; Question Answering System</a:t>
            </a:r>
            <a:br>
              <a:rPr lang="en-SG" sz="8000" dirty="0">
                <a:ea typeface="Tahoma" panose="020B0604030504040204" pitchFamily="34" charset="0"/>
              </a:rPr>
            </a:br>
            <a:r>
              <a:rPr lang="en-SG" sz="4000" dirty="0">
                <a:latin typeface="Arial"/>
                <a:ea typeface="Tahoma"/>
                <a:cs typeface="Arial"/>
              </a:rPr>
              <a:t>Partner Organisation: </a:t>
            </a:r>
            <a:r>
              <a:rPr lang="en-SG" sz="4000" i="1" dirty="0">
                <a:latin typeface="Arial"/>
                <a:ea typeface="Tahoma"/>
                <a:cs typeface="Arial"/>
              </a:rPr>
              <a:t>IBM</a:t>
            </a:r>
            <a:endParaRPr lang="en-US" dirty="0">
              <a:latin typeface="Arial"/>
              <a:ea typeface="Tahoma"/>
              <a:cs typeface="Arial"/>
            </a:endParaRPr>
          </a:p>
        </p:txBody>
      </p:sp>
      <p:sp>
        <p:nvSpPr>
          <p:cNvPr id="5" name="TextBox 4"/>
          <p:cNvSpPr txBox="1"/>
          <p:nvPr/>
        </p:nvSpPr>
        <p:spPr>
          <a:xfrm>
            <a:off x="1262384" y="6210995"/>
            <a:ext cx="18288000" cy="1208842"/>
          </a:xfrm>
          <a:prstGeom prst="round2DiagRect">
            <a:avLst/>
          </a:prstGeom>
          <a:ln>
            <a:noFill/>
          </a:ln>
          <a:effectLst/>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6500" b="1" dirty="0">
                <a:latin typeface="Arial" pitchFamily="34" charset="0"/>
                <a:ea typeface="Tahoma" panose="020B0604030504040204" pitchFamily="34" charset="0"/>
                <a:cs typeface="Arial" pitchFamily="34" charset="0"/>
              </a:rPr>
              <a:t>Project Overview</a:t>
            </a:r>
          </a:p>
        </p:txBody>
      </p:sp>
      <p:sp>
        <p:nvSpPr>
          <p:cNvPr id="9" name="TextBox 8"/>
          <p:cNvSpPr txBox="1"/>
          <p:nvPr/>
        </p:nvSpPr>
        <p:spPr>
          <a:xfrm>
            <a:off x="1069340" y="7704472"/>
            <a:ext cx="18697068" cy="11041484"/>
          </a:xfrm>
          <a:prstGeom prst="rect">
            <a:avLst/>
          </a:prstGeom>
          <a:noFill/>
        </p:spPr>
        <p:txBody>
          <a:bodyPr wrap="square" lIns="91440" tIns="45720" rIns="91440" bIns="45720" rtlCol="0" anchor="t">
            <a:spAutoFit/>
          </a:bodyPr>
          <a:lstStyle/>
          <a:p>
            <a:pPr algn="just">
              <a:spcAft>
                <a:spcPts val="300"/>
              </a:spcAft>
            </a:pPr>
            <a:r>
              <a:rPr lang="en-SG" sz="3200" dirty="0">
                <a:solidFill>
                  <a:schemeClr val="tx1">
                    <a:lumMod val="65000"/>
                    <a:lumOff val="35000"/>
                  </a:schemeClr>
                </a:solidFill>
                <a:latin typeface="Arial"/>
                <a:cs typeface="Arial"/>
              </a:rPr>
              <a:t>Today, both organizations and individuals have to deal with a large number of documents such as reports, manuals, research papers and emails. These documents contain useful information but are often difficult to search through one by one. Traditional keyword search systems does not work well because they only look for words that match and do not understand what the user really wants. And as a result, users may get irrelevant results or long lists of documents instead of clear answers straightforward answers which leads to a waste of time and reduces productivity. </a:t>
            </a:r>
          </a:p>
          <a:p>
            <a:pPr algn="just">
              <a:spcAft>
                <a:spcPts val="300"/>
              </a:spcAft>
            </a:pPr>
            <a:endParaRPr lang="en-SG" sz="3200" dirty="0">
              <a:solidFill>
                <a:schemeClr val="tx1">
                  <a:lumMod val="65000"/>
                  <a:lumOff val="35000"/>
                </a:schemeClr>
              </a:solidFill>
              <a:latin typeface="Arial" panose="020B0604020202020204" pitchFamily="34" charset="0"/>
              <a:cs typeface="Arial" panose="020B0604020202020204" pitchFamily="34" charset="0"/>
            </a:endParaRPr>
          </a:p>
          <a:p>
            <a:pPr algn="just">
              <a:spcAft>
                <a:spcPts val="300"/>
              </a:spcAft>
            </a:pPr>
            <a:r>
              <a:rPr lang="en-SG" sz="3200" dirty="0">
                <a:solidFill>
                  <a:schemeClr val="tx1">
                    <a:lumMod val="65000"/>
                    <a:lumOff val="35000"/>
                  </a:schemeClr>
                </a:solidFill>
                <a:latin typeface="Arial"/>
                <a:cs typeface="Arial"/>
              </a:rPr>
              <a:t>Our solution is an Intelligent Document Retrieval and Question Answering System that uses a RAG approach. This system converts normal documents into a more interactive knowledge base that users can easily search for. Firstly, documents that are uploaded by the user will be processed and stored in a way which allows the system to understand their meaning. When a user asks question, the system finds the most relevant parts of the documents and use them to generate accurate answers. This approach helps the system give better results than traditional keyword search by focusing on meaning rather than just matching words. </a:t>
            </a:r>
            <a:endParaRPr lang="en-SG" sz="3200" dirty="0">
              <a:solidFill>
                <a:schemeClr val="tx1">
                  <a:lumMod val="65000"/>
                  <a:lumOff val="35000"/>
                </a:schemeClr>
              </a:solidFill>
              <a:latin typeface="Arial" panose="020B0604020202020204" pitchFamily="34" charset="0"/>
              <a:cs typeface="Arial" panose="020B0604020202020204" pitchFamily="34" charset="0"/>
            </a:endParaRPr>
          </a:p>
          <a:p>
            <a:pPr algn="just"/>
            <a:endParaRPr lang="en-SG" sz="3200" dirty="0">
              <a:solidFill>
                <a:schemeClr val="tx1">
                  <a:lumMod val="65000"/>
                  <a:lumOff val="35000"/>
                </a:schemeClr>
              </a:solidFill>
              <a:latin typeface="Arial"/>
              <a:cs typeface="Arial"/>
            </a:endParaRPr>
          </a:p>
          <a:p>
            <a:pPr algn="just"/>
            <a:r>
              <a:rPr lang="en-SG" sz="3200" dirty="0">
                <a:solidFill>
                  <a:schemeClr val="tx1">
                    <a:lumMod val="65000"/>
                    <a:lumOff val="35000"/>
                  </a:schemeClr>
                </a:solidFill>
                <a:latin typeface="Arial"/>
                <a:cs typeface="Arial"/>
              </a:rPr>
              <a:t>Our system is built using a modern and modular technology stack. Python is used for the backend with </a:t>
            </a:r>
            <a:r>
              <a:rPr lang="en-SG" sz="3200" dirty="0" err="1">
                <a:solidFill>
                  <a:schemeClr val="tx1">
                    <a:lumMod val="65000"/>
                    <a:lumOff val="35000"/>
                  </a:schemeClr>
                </a:solidFill>
                <a:latin typeface="Arial"/>
                <a:cs typeface="Arial"/>
              </a:rPr>
              <a:t>Langchain</a:t>
            </a:r>
            <a:r>
              <a:rPr lang="en-SG" sz="3200" dirty="0">
                <a:solidFill>
                  <a:schemeClr val="tx1">
                    <a:lumMod val="65000"/>
                    <a:lumOff val="35000"/>
                  </a:schemeClr>
                </a:solidFill>
                <a:latin typeface="Arial"/>
                <a:cs typeface="Arial"/>
              </a:rPr>
              <a:t> </a:t>
            </a:r>
            <a:r>
              <a:rPr lang="en-SG" sz="3200" dirty="0" err="1">
                <a:solidFill>
                  <a:schemeClr val="tx1">
                    <a:lumMod val="65000"/>
                    <a:lumOff val="35000"/>
                  </a:schemeClr>
                </a:solidFill>
                <a:latin typeface="Arial"/>
                <a:cs typeface="Arial"/>
              </a:rPr>
              <a:t>mangaing</a:t>
            </a:r>
            <a:r>
              <a:rPr lang="en-SG" sz="3200" dirty="0">
                <a:solidFill>
                  <a:schemeClr val="tx1">
                    <a:lumMod val="65000"/>
                    <a:lumOff val="35000"/>
                  </a:schemeClr>
                </a:solidFill>
                <a:latin typeface="Arial"/>
                <a:cs typeface="Arial"/>
              </a:rPr>
              <a:t> the overall RAG workflow. Documents are processed using </a:t>
            </a:r>
            <a:r>
              <a:rPr lang="en-SG" sz="3200" dirty="0" err="1">
                <a:solidFill>
                  <a:schemeClr val="tx1">
                    <a:lumMod val="65000"/>
                    <a:lumOff val="35000"/>
                  </a:schemeClr>
                </a:solidFill>
                <a:latin typeface="Arial"/>
                <a:cs typeface="Arial"/>
              </a:rPr>
              <a:t>Docling</a:t>
            </a:r>
            <a:r>
              <a:rPr lang="en-SG" sz="3200" dirty="0">
                <a:solidFill>
                  <a:schemeClr val="tx1">
                    <a:lumMod val="65000"/>
                    <a:lumOff val="35000"/>
                  </a:schemeClr>
                </a:solidFill>
                <a:latin typeface="Arial"/>
                <a:cs typeface="Arial"/>
              </a:rPr>
              <a:t> while embeddings and semantic search are handled using sentence-transformers and chroma database. Llama is being used as the language model which is integrated to generate answers based on the retrieved information. The web interface is developed using </a:t>
            </a:r>
            <a:r>
              <a:rPr lang="en-SG" sz="3200" dirty="0" err="1">
                <a:solidFill>
                  <a:schemeClr val="tx1">
                    <a:lumMod val="65000"/>
                    <a:lumOff val="35000"/>
                  </a:schemeClr>
                </a:solidFill>
                <a:latin typeface="Arial"/>
                <a:cs typeface="Arial"/>
              </a:rPr>
              <a:t>Streamlit</a:t>
            </a:r>
            <a:r>
              <a:rPr lang="en-SG" sz="3200" dirty="0">
                <a:solidFill>
                  <a:schemeClr val="tx1">
                    <a:lumMod val="65000"/>
                    <a:lumOff val="35000"/>
                  </a:schemeClr>
                </a:solidFill>
                <a:latin typeface="Arial"/>
                <a:cs typeface="Arial"/>
              </a:rPr>
              <a:t> which allows user to easily upload documents and ask questions. Overall this technology stack makes the system accurate, scalable and easy to use. </a:t>
            </a:r>
          </a:p>
        </p:txBody>
      </p:sp>
      <p:sp>
        <p:nvSpPr>
          <p:cNvPr id="7" name="TextBox 6"/>
          <p:cNvSpPr txBox="1"/>
          <p:nvPr/>
        </p:nvSpPr>
        <p:spPr>
          <a:xfrm>
            <a:off x="1069861" y="27869957"/>
            <a:ext cx="6484249" cy="2387715"/>
          </a:xfrm>
          <a:prstGeom prst="rect">
            <a:avLst/>
          </a:prstGeom>
          <a:noFill/>
        </p:spPr>
        <p:txBody>
          <a:bodyPr wrap="square" lIns="91440" tIns="45720" rIns="91440" bIns="45720" rtlCol="0" anchor="t">
            <a:spAutoFit/>
          </a:bodyPr>
          <a:lstStyle/>
          <a:p>
            <a:r>
              <a:rPr lang="en-US" sz="2400" b="1" dirty="0">
                <a:solidFill>
                  <a:schemeClr val="tx1">
                    <a:lumMod val="65000"/>
                    <a:lumOff val="35000"/>
                  </a:schemeClr>
                </a:solidFill>
                <a:latin typeface="Arial" panose="020B0604020202020204" pitchFamily="34" charset="0"/>
                <a:cs typeface="Arial" panose="020B0604020202020204" pitchFamily="34" charset="0"/>
              </a:rPr>
              <a:t>Team Members</a:t>
            </a:r>
          </a:p>
          <a:p>
            <a:r>
              <a:rPr lang="en-US" sz="2400" dirty="0">
                <a:solidFill>
                  <a:schemeClr val="tx1">
                    <a:lumMod val="65000"/>
                    <a:lumOff val="35000"/>
                  </a:schemeClr>
                </a:solidFill>
                <a:latin typeface="Arial"/>
                <a:cs typeface="Arial"/>
              </a:rPr>
              <a:t>Yeo Rui En, Lim </a:t>
            </a:r>
            <a:r>
              <a:rPr lang="en-US" sz="2400" dirty="0" err="1">
                <a:solidFill>
                  <a:schemeClr val="tx1">
                    <a:lumMod val="65000"/>
                    <a:lumOff val="35000"/>
                  </a:schemeClr>
                </a:solidFill>
                <a:latin typeface="Arial"/>
                <a:cs typeface="Arial"/>
              </a:rPr>
              <a:t>Iy</a:t>
            </a:r>
            <a:r>
              <a:rPr lang="en-US" sz="2400" dirty="0">
                <a:solidFill>
                  <a:schemeClr val="tx1">
                    <a:lumMod val="65000"/>
                    <a:lumOff val="35000"/>
                  </a:schemeClr>
                </a:solidFill>
                <a:latin typeface="Arial"/>
                <a:cs typeface="Arial"/>
              </a:rPr>
              <a:t> Xin Rachelle, </a:t>
            </a:r>
            <a:br>
              <a:rPr lang="en-US" sz="2400" dirty="0">
                <a:solidFill>
                  <a:schemeClr val="tx1">
                    <a:lumMod val="65000"/>
                    <a:lumOff val="35000"/>
                  </a:schemeClr>
                </a:solidFill>
                <a:latin typeface="Arial"/>
                <a:cs typeface="Arial"/>
              </a:rPr>
            </a:br>
            <a:r>
              <a:rPr lang="en-US" sz="2400" dirty="0" err="1">
                <a:solidFill>
                  <a:schemeClr val="tx1">
                    <a:lumMod val="65000"/>
                    <a:lumOff val="35000"/>
                  </a:schemeClr>
                </a:solidFill>
                <a:latin typeface="Arial"/>
                <a:cs typeface="Arial"/>
              </a:rPr>
              <a:t>Hashireen</a:t>
            </a:r>
            <a:r>
              <a:rPr lang="en-US" sz="2400" dirty="0">
                <a:solidFill>
                  <a:schemeClr val="tx1">
                    <a:lumMod val="65000"/>
                    <a:lumOff val="35000"/>
                  </a:schemeClr>
                </a:solidFill>
                <a:latin typeface="Arial"/>
                <a:cs typeface="Arial"/>
              </a:rPr>
              <a:t> D/O Abdul Khadar, Luo Cheng Nuo</a:t>
            </a:r>
          </a:p>
          <a:p>
            <a:endParaRPr lang="en-US" sz="2400" b="1" dirty="0">
              <a:solidFill>
                <a:schemeClr val="tx1">
                  <a:lumMod val="65000"/>
                  <a:lumOff val="35000"/>
                </a:schemeClr>
              </a:solidFill>
              <a:latin typeface="Arial" panose="020B0604020202020204" pitchFamily="34" charset="0"/>
              <a:ea typeface="Calibri"/>
              <a:cs typeface="Arial" panose="020B0604020202020204" pitchFamily="34" charset="0"/>
            </a:endParaRPr>
          </a:p>
          <a:p>
            <a:r>
              <a:rPr lang="en-US" sz="2400" b="1" dirty="0">
                <a:solidFill>
                  <a:schemeClr val="tx1">
                    <a:lumMod val="65000"/>
                    <a:lumOff val="35000"/>
                  </a:schemeClr>
                </a:solidFill>
                <a:latin typeface="Arial" panose="020B0604020202020204" pitchFamily="34" charset="0"/>
                <a:cs typeface="Arial" panose="020B0604020202020204" pitchFamily="34" charset="0"/>
              </a:rPr>
              <a:t>Supervisor</a:t>
            </a:r>
          </a:p>
          <a:p>
            <a:r>
              <a:rPr lang="en-US" sz="2400" dirty="0" err="1">
                <a:solidFill>
                  <a:schemeClr val="tx1">
                    <a:lumMod val="65000"/>
                    <a:lumOff val="35000"/>
                  </a:schemeClr>
                </a:solidFill>
                <a:latin typeface="Arial"/>
                <a:cs typeface="Arial"/>
              </a:rPr>
              <a:t>Mr</a:t>
            </a:r>
            <a:r>
              <a:rPr lang="en-US" sz="2400" dirty="0">
                <a:solidFill>
                  <a:schemeClr val="tx1">
                    <a:lumMod val="65000"/>
                    <a:lumOff val="35000"/>
                  </a:schemeClr>
                </a:solidFill>
                <a:latin typeface="Arial"/>
                <a:cs typeface="Arial"/>
              </a:rPr>
              <a:t> Tan Poh Keam</a:t>
            </a:r>
            <a:endParaRPr lang="en-US" sz="2400" dirty="0">
              <a:solidFill>
                <a:schemeClr val="tx1">
                  <a:lumMod val="65000"/>
                  <a:lumOff val="35000"/>
                </a:schemeClr>
              </a:solidFill>
              <a:latin typeface="Arial" pitchFamily="34" charset="0"/>
              <a:cs typeface="Arial" pitchFamily="34" charset="0"/>
            </a:endParaRPr>
          </a:p>
        </p:txBody>
      </p:sp>
      <p:pic>
        <p:nvPicPr>
          <p:cNvPr id="14" name="Shape 345" descr="A screenshot of a computer&#10;&#10;AI-generated content may be incorrect."/>
          <p:cNvPicPr preferRelativeResize="0"/>
          <p:nvPr/>
        </p:nvPicPr>
        <p:blipFill>
          <a:blip r:embed="rId3"/>
          <a:stretch>
            <a:fillRect/>
          </a:stretch>
        </p:blipFill>
        <p:spPr>
          <a:xfrm>
            <a:off x="11202474" y="24199609"/>
            <a:ext cx="7912094" cy="4357019"/>
          </a:xfrm>
          <a:prstGeom prst="rect">
            <a:avLst/>
          </a:prstGeom>
          <a:noFill/>
          <a:ln w="60325">
            <a:solidFill>
              <a:srgbClr val="E6550B"/>
            </a:solidFill>
            <a:miter lim="800000"/>
          </a:ln>
        </p:spPr>
      </p:pic>
      <p:sp>
        <p:nvSpPr>
          <p:cNvPr id="21" name="TextBox 20"/>
          <p:cNvSpPr txBox="1"/>
          <p:nvPr/>
        </p:nvSpPr>
        <p:spPr>
          <a:xfrm>
            <a:off x="10867877" y="28719003"/>
            <a:ext cx="8851239" cy="907886"/>
          </a:xfrm>
          <a:prstGeom prst="rect">
            <a:avLst/>
          </a:prstGeom>
          <a:noFill/>
        </p:spPr>
        <p:txBody>
          <a:bodyPr wrap="square" lIns="45665" tIns="22833" rIns="45665" bIns="22833" rtlCol="0" anchor="t">
            <a:spAutoFit/>
          </a:bodyPr>
          <a:lstStyle/>
          <a:p>
            <a:r>
              <a:rPr lang="en-SG" sz="2800" dirty="0">
                <a:solidFill>
                  <a:schemeClr val="tx1">
                    <a:lumMod val="65000"/>
                    <a:lumOff val="35000"/>
                  </a:schemeClr>
                </a:solidFill>
                <a:latin typeface="Arial"/>
                <a:cs typeface="Arial"/>
              </a:rPr>
              <a:t>Web interface when user first enters website, before uploading any documents.</a:t>
            </a:r>
            <a:endParaRPr lang="en-SG" sz="28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2F4E8FD-036D-5743-EE46-0D8EAE013418}"/>
              </a:ext>
            </a:extLst>
          </p:cNvPr>
          <p:cNvSpPr txBox="1"/>
          <p:nvPr/>
        </p:nvSpPr>
        <p:spPr>
          <a:xfrm>
            <a:off x="11183488" y="23087488"/>
            <a:ext cx="8851239" cy="907886"/>
          </a:xfrm>
          <a:prstGeom prst="rect">
            <a:avLst/>
          </a:prstGeom>
          <a:noFill/>
        </p:spPr>
        <p:txBody>
          <a:bodyPr wrap="square" lIns="45665" tIns="22833" rIns="45665" bIns="22833" rtlCol="0" anchor="t">
            <a:spAutoFit/>
          </a:bodyPr>
          <a:lstStyle/>
          <a:p>
            <a:r>
              <a:rPr lang="en-SG" sz="2800" dirty="0">
                <a:solidFill>
                  <a:schemeClr val="tx1">
                    <a:lumMod val="65000"/>
                    <a:lumOff val="35000"/>
                  </a:schemeClr>
                </a:solidFill>
                <a:latin typeface="Arial"/>
                <a:cs typeface="Arial"/>
              </a:rPr>
              <a:t>Web interface of after uploading documents and user starts to ask questions and there are responses.</a:t>
            </a:r>
            <a:endParaRPr lang="en-SG" sz="2800"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23" name="Picture 22" descr="A screenshot of a phone&#10;&#10;AI-generated content may be incorrect.">
            <a:extLst>
              <a:ext uri="{FF2B5EF4-FFF2-40B4-BE49-F238E27FC236}">
                <a16:creationId xmlns:a16="http://schemas.microsoft.com/office/drawing/2014/main" id="{2D895AA7-590F-FFAD-9A87-8B945C81A640}"/>
              </a:ext>
            </a:extLst>
          </p:cNvPr>
          <p:cNvPicPr>
            <a:picLocks noChangeAspect="1"/>
          </p:cNvPicPr>
          <p:nvPr/>
        </p:nvPicPr>
        <p:blipFill>
          <a:blip r:embed="rId4"/>
          <a:stretch>
            <a:fillRect/>
          </a:stretch>
        </p:blipFill>
        <p:spPr>
          <a:xfrm>
            <a:off x="1527255" y="20076302"/>
            <a:ext cx="8861745" cy="1240039"/>
          </a:xfrm>
          <a:prstGeom prst="rect">
            <a:avLst/>
          </a:prstGeom>
          <a:ln w="25400">
            <a:solidFill>
              <a:srgbClr val="E16609"/>
            </a:solidFill>
          </a:ln>
        </p:spPr>
      </p:pic>
      <p:pic>
        <p:nvPicPr>
          <p:cNvPr id="3" name="Picture 2" descr="A screenshot of a chatbot&#10;&#10;AI-generated content may be incorrect.">
            <a:extLst>
              <a:ext uri="{FF2B5EF4-FFF2-40B4-BE49-F238E27FC236}">
                <a16:creationId xmlns:a16="http://schemas.microsoft.com/office/drawing/2014/main" id="{E4CDA5A4-91AC-5F04-E6B2-39DC2B3F0CDD}"/>
              </a:ext>
            </a:extLst>
          </p:cNvPr>
          <p:cNvPicPr>
            <a:picLocks noChangeAspect="1"/>
          </p:cNvPicPr>
          <p:nvPr/>
        </p:nvPicPr>
        <p:blipFill>
          <a:blip r:embed="rId5"/>
          <a:stretch>
            <a:fillRect/>
          </a:stretch>
        </p:blipFill>
        <p:spPr>
          <a:xfrm>
            <a:off x="11067703" y="18488829"/>
            <a:ext cx="8648403" cy="4429528"/>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856EB38B-3420-0096-5563-EEE10ECFA3A1}"/>
              </a:ext>
            </a:extLst>
          </p:cNvPr>
          <p:cNvPicPr>
            <a:picLocks noChangeAspect="1"/>
          </p:cNvPicPr>
          <p:nvPr/>
        </p:nvPicPr>
        <p:blipFill>
          <a:blip r:embed="rId6"/>
          <a:stretch>
            <a:fillRect/>
          </a:stretch>
        </p:blipFill>
        <p:spPr>
          <a:xfrm>
            <a:off x="1498909" y="23624673"/>
            <a:ext cx="7921246" cy="4266528"/>
          </a:xfrm>
          <a:prstGeom prst="rect">
            <a:avLst/>
          </a:prstGeom>
        </p:spPr>
      </p:pic>
      <p:sp>
        <p:nvSpPr>
          <p:cNvPr id="4" name="TextBox 3">
            <a:extLst>
              <a:ext uri="{FF2B5EF4-FFF2-40B4-BE49-F238E27FC236}">
                <a16:creationId xmlns:a16="http://schemas.microsoft.com/office/drawing/2014/main" id="{55340D90-5326-02C3-9473-D98CE4C39A3A}"/>
              </a:ext>
            </a:extLst>
          </p:cNvPr>
          <p:cNvSpPr txBox="1"/>
          <p:nvPr/>
        </p:nvSpPr>
        <p:spPr>
          <a:xfrm>
            <a:off x="1530180" y="21533024"/>
            <a:ext cx="8851239" cy="1338774"/>
          </a:xfrm>
          <a:prstGeom prst="rect">
            <a:avLst/>
          </a:prstGeom>
          <a:noFill/>
        </p:spPr>
        <p:txBody>
          <a:bodyPr wrap="square" lIns="45665" tIns="22833" rIns="45665" bIns="22833" rtlCol="0" anchor="t">
            <a:spAutoFit/>
          </a:bodyPr>
          <a:lstStyle/>
          <a:p>
            <a:r>
              <a:rPr lang="en-SG" sz="2800" dirty="0">
                <a:solidFill>
                  <a:schemeClr val="tx1">
                    <a:lumMod val="65000"/>
                    <a:lumOff val="35000"/>
                  </a:schemeClr>
                </a:solidFill>
                <a:latin typeface="Arial"/>
                <a:cs typeface="Arial"/>
              </a:rPr>
              <a:t>Shows how many documents are uploaded and the selected documents to answer questions, shows number of past messages. </a:t>
            </a:r>
            <a:endParaRPr lang="en-SG" sz="2800"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10" name="Picture 9" descr="A collage of a group of people&#10;&#10;AI-generated content may be incorrect.">
            <a:extLst>
              <a:ext uri="{FF2B5EF4-FFF2-40B4-BE49-F238E27FC236}">
                <a16:creationId xmlns:a16="http://schemas.microsoft.com/office/drawing/2014/main" id="{00CC7FD7-E883-A64A-1E1A-12974A2CB9DF}"/>
              </a:ext>
            </a:extLst>
          </p:cNvPr>
          <p:cNvPicPr>
            <a:picLocks noChangeAspect="1"/>
          </p:cNvPicPr>
          <p:nvPr/>
        </p:nvPicPr>
        <p:blipFill>
          <a:blip r:embed="rId7"/>
          <a:stretch>
            <a:fillRect/>
          </a:stretch>
        </p:blipFill>
        <p:spPr>
          <a:xfrm>
            <a:off x="17253032" y="135501"/>
            <a:ext cx="3990369" cy="5532073"/>
          </a:xfrm>
          <a:prstGeom prst="rect">
            <a:avLst/>
          </a:prstGeom>
        </p:spPr>
      </p:pic>
    </p:spTree>
    <p:extLst>
      <p:ext uri="{BB962C8B-B14F-4D97-AF65-F5344CB8AC3E}">
        <p14:creationId xmlns:p14="http://schemas.microsoft.com/office/powerpoint/2010/main" val="931397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45ACC263EA734D945ACC4F3E620966" ma:contentTypeVersion="16" ma:contentTypeDescription="Create a new document." ma:contentTypeScope="" ma:versionID="d40e9dae1d368b91bf3d3f3ef0447877">
  <xsd:schema xmlns:xsd="http://www.w3.org/2001/XMLSchema" xmlns:xs="http://www.w3.org/2001/XMLSchema" xmlns:p="http://schemas.microsoft.com/office/2006/metadata/properties" xmlns:ns1="http://schemas.microsoft.com/sharepoint/v3" xmlns:ns3="4273798a-8e7c-4150-b1eb-bb92c15cf154" xmlns:ns4="d2d8462b-6476-4c7d-8275-c0f09241600f" targetNamespace="http://schemas.microsoft.com/office/2006/metadata/properties" ma:root="true" ma:fieldsID="ff857beed7bb60264c77200005d14920" ns1:_="" ns3:_="" ns4:_="">
    <xsd:import namespace="http://schemas.microsoft.com/sharepoint/v3"/>
    <xsd:import namespace="4273798a-8e7c-4150-b1eb-bb92c15cf154"/>
    <xsd:import namespace="d2d8462b-6476-4c7d-8275-c0f09241600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73798a-8e7c-4150-b1eb-bb92c15cf1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d8462b-6476-4c7d-8275-c0f09241600f"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2F81544-CB06-4B31-A173-C9B4E41680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273798a-8e7c-4150-b1eb-bb92c15cf154"/>
    <ds:schemaRef ds:uri="d2d8462b-6476-4c7d-8275-c0f0924160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E4FD7B-F212-4C20-A600-A5D04CB08C22}">
  <ds:schemaRefs>
    <ds:schemaRef ds:uri="http://schemas.microsoft.com/sharepoint/v3/contenttype/forms"/>
  </ds:schemaRefs>
</ds:datastoreItem>
</file>

<file path=customXml/itemProps3.xml><?xml version="1.0" encoding="utf-8"?>
<ds:datastoreItem xmlns:ds="http://schemas.openxmlformats.org/officeDocument/2006/customXml" ds:itemID="{B155F4EC-BD04-4664-8C2D-39B3DE75C63A}">
  <ds:schemaRefs>
    <ds:schemaRef ds:uri="http://purl.org/dc/terms/"/>
    <ds:schemaRef ds:uri="http://schemas.microsoft.com/office/2006/metadata/properties"/>
    <ds:schemaRef ds:uri="http://purl.org/dc/elements/1.1/"/>
    <ds:schemaRef ds:uri="4273798a-8e7c-4150-b1eb-bb92c15cf154"/>
    <ds:schemaRef ds:uri="http://schemas.microsoft.com/office/infopath/2007/PartnerControls"/>
    <ds:schemaRef ds:uri="d2d8462b-6476-4c7d-8275-c0f09241600f"/>
    <ds:schemaRef ds:uri="http://purl.org/dc/dcmitype/"/>
    <ds:schemaRef ds:uri="http://www.w3.org/XML/1998/namespace"/>
    <ds:schemaRef ds:uri="http://schemas.microsoft.com/office/2006/documentManagement/types"/>
    <ds:schemaRef ds:uri="http://schemas.openxmlformats.org/package/2006/metadata/core-properties"/>
    <ds:schemaRef ds:uri="http://schemas.microsoft.com/sharepoint/v3"/>
  </ds:schemaRefs>
</ds:datastoreItem>
</file>

<file path=docMetadata/LabelInfo.xml><?xml version="1.0" encoding="utf-8"?>
<clbl:labelList xmlns:clbl="http://schemas.microsoft.com/office/2020/mipLabelMetadata">
  <clbl:label id="{b70f6a2e-9a0b-44bc-9fcb-55781401e2f0}" enabled="1" method="Standard" siteId="{f688b0d0-79f0-40a4-8644-35fcdee9d0f3}" removed="0"/>
</clbl:labelList>
</file>

<file path=docProps/app.xml><?xml version="1.0" encoding="utf-8"?>
<Properties xmlns="http://schemas.openxmlformats.org/officeDocument/2006/extended-properties" xmlns:vt="http://schemas.openxmlformats.org/officeDocument/2006/docPropsVTypes">
  <TotalTime>5733</TotalTime>
  <Words>419</Words>
  <Application>Microsoft Office PowerPoint</Application>
  <PresentationFormat>Custom</PresentationFormat>
  <Paragraphs>30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Intelligent Document Retrieval &amp; Question Answering System Partner Organisation: IBM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Samuel Chua OCC</dc:creator>
  <cp:lastModifiedBy>HASHIREEN D/O ABDUL KHADAR</cp:lastModifiedBy>
  <cp:revision>198</cp:revision>
  <cp:lastPrinted>2015-10-07T03:43:03Z</cp:lastPrinted>
  <dcterms:created xsi:type="dcterms:W3CDTF">2013-11-08T07:15:15Z</dcterms:created>
  <dcterms:modified xsi:type="dcterms:W3CDTF">2026-02-02T03:52:34Z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0x010100AF45ACC263EA734D945ACC4F3E620966</vt:lpwstr>
  </property>
  <property fmtid="{D5CDD505-2E9C-101B-9397-08002B2CF9AE}" pid="3" name="_dlc_DocIdItemGuid">
    <vt:lpwstr>d2ab94f0-aa0b-4424-bc35-41695c99ac49</vt:lpwstr>
  </property>
  <property fmtid="{D5CDD505-2E9C-101B-9397-08002B2CF9AE}" pid="4" name="MSIP_Label_b70f6a2e-9a0b-44bc-9fcb-55781401e2f0_Enabled">
    <vt:lpwstr>true</vt:lpwstr>
  </property>
  <property fmtid="{D5CDD505-2E9C-101B-9397-08002B2CF9AE}" pid="5" name="MSIP_Label_b70f6a2e-9a0b-44bc-9fcb-55781401e2f0_SetDate">
    <vt:lpwstr>2021-07-12T06:48:16Z</vt:lpwstr>
  </property>
  <property fmtid="{D5CDD505-2E9C-101B-9397-08002B2CF9AE}" pid="6" name="MSIP_Label_b70f6a2e-9a0b-44bc-9fcb-55781401e2f0_Method">
    <vt:lpwstr>Standard</vt:lpwstr>
  </property>
  <property fmtid="{D5CDD505-2E9C-101B-9397-08002B2CF9AE}" pid="7" name="MSIP_Label_b70f6a2e-9a0b-44bc-9fcb-55781401e2f0_Name">
    <vt:lpwstr>NON-SENSITIVE</vt:lpwstr>
  </property>
  <property fmtid="{D5CDD505-2E9C-101B-9397-08002B2CF9AE}" pid="8" name="MSIP_Label_b70f6a2e-9a0b-44bc-9fcb-55781401e2f0_SiteId">
    <vt:lpwstr>f688b0d0-79f0-40a4-8644-35fcdee9d0f3</vt:lpwstr>
  </property>
  <property fmtid="{D5CDD505-2E9C-101B-9397-08002B2CF9AE}" pid="9" name="MSIP_Label_b70f6a2e-9a0b-44bc-9fcb-55781401e2f0_ActionId">
    <vt:lpwstr>b0df680a-912e-44c3-89e9-6455e0f4fcc7</vt:lpwstr>
  </property>
  <property fmtid="{D5CDD505-2E9C-101B-9397-08002B2CF9AE}" pid="10" name="MSIP_Label_b70f6a2e-9a0b-44bc-9fcb-55781401e2f0_ContentBits">
    <vt:lpwstr>1</vt:lpwstr>
  </property>
</Properties>
</file>